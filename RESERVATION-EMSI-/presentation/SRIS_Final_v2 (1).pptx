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2" r:id="rId6"/>
    <p:sldId id="265" r:id="rId7"/>
    <p:sldId id="266" r:id="rId8"/>
    <p:sldId id="267" r:id="rId9"/>
    <p:sldId id="268" r:id="rId1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CDF258-7BB5-41DE-9AE8-B09DFF488E80}">
  <a:tblStyle styleId="{8ACDF258-7BB5-41DE-9AE8-B09DFF488E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11a72dfe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3e11a72dfe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e11a72dfe4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EMSI – 3IIR • Année universitaire 2025–2026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91440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Georgia"/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SRIS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192024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Système de Réservation Intelligente des Salles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514600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Réservation · Gestion des Espaces · Détection de Conflits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154680"/>
            <a:ext cx="1371600" cy="36576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48640" y="32918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Fatine Elbari  ·  Salma Karim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Encadrante : Mme. Kassid Asmaa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4B49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4B49B"/>
                </a:solidFill>
                <a:latin typeface="Calibri"/>
                <a:ea typeface="Calibri"/>
                <a:cs typeface="Calibri"/>
                <a:sym typeface="Calibri"/>
              </a:rPr>
              <a:t>EMSI Casablanca  |  2025–2026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DF8B6-04A7-F9C5-4A8E-B4E7BDE8D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980" y="16574"/>
            <a:ext cx="3771900" cy="10184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Contexte &amp; Problématique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868680"/>
            <a:ext cx="2560320" cy="109728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9144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52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4813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espaces gérés (SC · LI · CONF)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3200400" y="868680"/>
            <a:ext cx="2560320" cy="109728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291840" y="9144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91840" y="14813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étages · 10 000+ étudiants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035040" y="868680"/>
            <a:ext cx="2560320" cy="109728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126480" y="91440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126480" y="1481328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gestion manuelle — non scalable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65760" y="2176272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D6A4F"/>
                </a:solidFill>
                <a:latin typeface="Georgia"/>
                <a:ea typeface="Georgia"/>
                <a:cs typeface="Georgia"/>
                <a:sym typeface="Georgia"/>
              </a:rPr>
              <a:t>Problèmes de la gestion actuelle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5760" y="2560320"/>
            <a:ext cx="832104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Doubles réservations — tableurs Excel &amp; emails non fiables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Aucune vue centralisée des disponibilités en temps réel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Délais de traitement élevés — validation manuelle des demandes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B2E24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B2E24"/>
                </a:solidFill>
                <a:latin typeface="Calibri"/>
                <a:ea typeface="Calibri"/>
                <a:cs typeface="Calibri"/>
                <a:sym typeface="Calibri"/>
              </a:rPr>
              <a:t>Pas de traçabilité des attributions — conflits d'horaires récurrents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Objectifs du projet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20040" y="91440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320040" y="91440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48056" y="102412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48056" y="13898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Consultation temps réel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48056" y="17556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Filtres par étage, type, capacité — disponibilités en temps réel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200400" y="91440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328416" y="102412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328416" y="13898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Réservation intelligente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328416" y="17556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Workflow complet : soumission → validation → confirmation par email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080760" y="91440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080760" y="91440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208776" y="102412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208776" y="138988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Détection de conflits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208776" y="175564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Rejet automatique des créneaux superposés — validation côté serveur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20040" y="28346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320040" y="283464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48056" y="294436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48056" y="33101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Dashboard administration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48056" y="367588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Indicateurs clés en temps réel, statistiques et modération centralisée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00400" y="28346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200400" y="283464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328416" y="294436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328416" y="33101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API REST complète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328416" y="367588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Endpoints CRUD sécurisés — intégration future mobile / web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080760" y="2834640"/>
            <a:ext cx="2743200" cy="17373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080760" y="2834640"/>
            <a:ext cx="2743200" cy="64008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208776" y="2944368"/>
            <a:ext cx="4754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800"/>
              <a:buFont typeface="Georgia"/>
              <a:buNone/>
            </a:pPr>
            <a:r>
              <a:rPr lang="en-US" sz="1800" b="1" i="0" u="none" strike="noStrike" cap="none">
                <a:solidFill>
                  <a:srgbClr val="52B788"/>
                </a:solidFill>
                <a:latin typeface="Georgia"/>
                <a:ea typeface="Georgia"/>
                <a:cs typeface="Georgia"/>
                <a:sym typeface="Georgia"/>
              </a:rPr>
              <a:t>06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08776" y="3310128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Sécurité RBAC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208776" y="3675888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rôles : Étudiant · Enseignant · Administration · Admin Système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Stack Technologique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65760" y="996696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11480" y="101498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2423160" y="1014984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3.11  ·  Django 4.2  ·  Architecture MVT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65760" y="1655064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95D5B2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11480" y="1673352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Base de données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2423160" y="1673352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 3.x  ·  ORM Django  ·  Migration PostgreSQL prévue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65760" y="2313432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11480" y="233172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2423160" y="2331720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  ·  Bootstrap 5.3  ·  JavaScript ES6+  ·  FullCalendar.js 6.x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65760" y="2971800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95D5B2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11480" y="299008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423160" y="299008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Django REST Framework 3.14  ·  Sérialisation JSON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65760" y="3630168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11480" y="364845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Outils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423160" y="3648456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  ·  Postman (tests API)  ·  VS Code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65760" y="4288536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95D5B2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11480" y="430682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Auth &amp; Sécurité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2423160" y="4306824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RBAC  ·  CSRF  ·  Validation serveur  ·  ORM Django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9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332"/>
          </a:solidFill>
          <a:ln w="12700" cap="flat" cmpd="sng">
            <a:solidFill>
              <a:srgbClr val="1B43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Architecture Technique MVT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92608" y="868680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292608" y="868680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402336" y="9601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apps.bookings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02336" y="1325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Réservations, statuts, détection conflits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200400" y="868680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3200400" y="868680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3310128" y="9601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apps.users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310128" y="1325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Auth, profils, rôles RBAC, permissions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108192" y="868680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108192" y="868680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217920" y="960120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apps.rooms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217920" y="13258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Salles, étages, types, équipements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92608" y="2221992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292608" y="2221992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402336" y="231343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static/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02336" y="267919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Endpoints DRF : bookings, rooms, users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200400" y="2221992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200400" y="2221992"/>
            <a:ext cx="2761488" cy="54864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3310128" y="231343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52B788"/>
                </a:solidFill>
                <a:latin typeface="Consolas"/>
                <a:ea typeface="Consolas"/>
                <a:cs typeface="Consolas"/>
                <a:sym typeface="Consolas"/>
              </a:rPr>
              <a:t>apps.sris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310128" y="267919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Configuration, tableau de bord, statistiques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108192" y="2221992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6108192" y="2221992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217920" y="2313432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manage.py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217920" y="2679192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Mixins communs, utilitaires, base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92608" y="3575304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292608" y="3575304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402336" y="36667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templates/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02336" y="4032504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Dashboard, calendrier, salles, admin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200400" y="3575304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200400" y="3575304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310128" y="36667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static/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310128" y="4032504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Bootstrap 5, FullCalendar.js, assets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108192" y="3575304"/>
            <a:ext cx="2761488" cy="11887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5D5B2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6108192" y="3575304"/>
            <a:ext cx="2761488" cy="54864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217920" y="3666744"/>
            <a:ext cx="25603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50"/>
              <a:buFont typeface="Consolas"/>
              <a:buNone/>
            </a:pPr>
            <a:r>
              <a:rPr lang="en-US" sz="1150" b="1" i="0" u="none" strike="noStrike" cap="none">
                <a:solidFill>
                  <a:srgbClr val="1B4332"/>
                </a:solidFill>
                <a:latin typeface="Consolas"/>
                <a:ea typeface="Consolas"/>
                <a:cs typeface="Consolas"/>
                <a:sym typeface="Consolas"/>
              </a:rPr>
              <a:t>manage.py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217920" y="4032504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Fichiers racine, requirements.txt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7406640" y="-731520"/>
            <a:ext cx="2743200" cy="27432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-914400" y="3200400"/>
            <a:ext cx="2926080" cy="292608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Résultats &amp; Perspectives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Points forts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57200" y="1188720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Application web complète — 8/9 objectifs atteints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Détection automatique des conflits (validation serveur)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Interface responsive Bootstrap 5 + Calendrier FullCalendar.js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API REST complète avec DRF — RBAC à 4 rôles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Temps de réponse &lt; 1,1s — tous tests fonctionnels PASS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2B78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52B788"/>
                </a:solidFill>
                <a:latin typeface="Calibri"/>
                <a:ea typeface="Calibri"/>
                <a:cs typeface="Calibri"/>
                <a:sym typeface="Calibri"/>
              </a:rPr>
              <a:t>Perspectives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663440" y="1188720"/>
            <a:ext cx="402336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Migration vers PostgreSQL (concurrence élevée)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Déploiement cloud (Heroku / VPS)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Application mobile React Native / Flutter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Notifications email SMTP automatiques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95D5B2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rPr>
              <a:t>Réservations récurrentes &amp; SSO institutionnel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1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« Un bon système c'est celui qu'on n'a pas besoin d'expliquer. »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7498080" y="-274320"/>
            <a:ext cx="1828800" cy="1828800"/>
          </a:xfrm>
          <a:prstGeom prst="ellipse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Chapitre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640080" y="1600200"/>
            <a:ext cx="7772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Conception UML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640080" y="2788920"/>
            <a:ext cx="1280160" cy="45720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640080" y="2971800"/>
            <a:ext cx="731520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cas d'utilisation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classes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sequence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500"/>
              <a:buFont typeface="Arial"/>
              <a:buChar char="•"/>
            </a:pPr>
            <a:r>
              <a:rPr lang="en-US" sz="1500" b="0" i="0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Diagramme de communication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4"/>
          <p:cNvSpPr/>
          <p:nvPr/>
        </p:nvSpPr>
        <p:spPr>
          <a:xfrm>
            <a:off x="7498080" y="-274320"/>
            <a:ext cx="1828800" cy="1828800"/>
          </a:xfrm>
          <a:prstGeom prst="ellipse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-731520" y="3657600"/>
            <a:ext cx="2560200" cy="2560200"/>
          </a:xfrm>
          <a:prstGeom prst="ellipse">
            <a:avLst/>
          </a:prstGeom>
          <a:solidFill>
            <a:srgbClr val="2D6A4F"/>
          </a:solidFill>
          <a:ln w="12700" cap="flat" cmpd="sng">
            <a:solidFill>
              <a:srgbClr val="2D6A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5D5B2"/>
              </a:buClr>
              <a:buSzPts val="1800"/>
              <a:buFont typeface="Arial"/>
              <a:buNone/>
            </a:pPr>
            <a:r>
              <a:rPr lang="en-US" sz="1800" b="0" i="1" u="none" strike="noStrike" cap="none">
                <a:solidFill>
                  <a:srgbClr val="95D5B2"/>
                </a:solidFill>
                <a:latin typeface="Arial"/>
                <a:ea typeface="Arial"/>
                <a:cs typeface="Arial"/>
                <a:sym typeface="Arial"/>
              </a:rPr>
              <a:t>Chapitre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40080" y="1600200"/>
            <a:ext cx="77724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Arial"/>
              <a:buNone/>
            </a:pPr>
            <a:r>
              <a:rPr lang="en-US" sz="5600" b="1">
                <a:solidFill>
                  <a:srgbClr val="FFFFFF"/>
                </a:solidFill>
              </a:rPr>
              <a:t>Simulation Projet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40080" y="2788920"/>
            <a:ext cx="1280100" cy="45600"/>
          </a:xfrm>
          <a:prstGeom prst="rect">
            <a:avLst/>
          </a:prstGeom>
          <a:solidFill>
            <a:srgbClr val="52B788"/>
          </a:solidFill>
          <a:ln w="12700" cap="flat" cmpd="sng">
            <a:solidFill>
              <a:srgbClr val="52B7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640080" y="2971800"/>
            <a:ext cx="73152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 xml:space="preserve">Après la présentation du projet, cette simulation permet de visualiser les différents scénarios d’utilisation et le comportement de l’application. </a:t>
            </a: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_bg_1"/>
          <p:cNvSpPr/>
          <p:nvPr/>
        </p:nvSpPr>
        <p:spPr>
          <a:xfrm>
            <a:off x="7000000" y="-900000"/>
            <a:ext cx="3200400" cy="3200400"/>
          </a:xfrm>
          <a:prstGeom prst="ellipse">
            <a:avLst/>
          </a:prstGeom>
          <a:solidFill>
            <a:srgbClr val="2D6A4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circle_bg_2"/>
          <p:cNvSpPr/>
          <p:nvPr/>
        </p:nvSpPr>
        <p:spPr>
          <a:xfrm>
            <a:off x="7600000" y="-400000"/>
            <a:ext cx="2000000" cy="200000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circle_bg_3"/>
          <p:cNvSpPr/>
          <p:nvPr/>
        </p:nvSpPr>
        <p:spPr>
          <a:xfrm>
            <a:off x="-600000" y="4500000"/>
            <a:ext cx="2400000" cy="2400000"/>
          </a:xfrm>
          <a:prstGeom prst="ellipse">
            <a:avLst/>
          </a:prstGeom>
          <a:solidFill>
            <a:srgbClr val="2D6A4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circle_bg_4"/>
          <p:cNvSpPr/>
          <p:nvPr/>
        </p:nvSpPr>
        <p:spPr>
          <a:xfrm>
            <a:off x="-200000" y="5000000"/>
            <a:ext cx="1200000" cy="1200000"/>
          </a:xfrm>
          <a:prstGeom prst="ellipse">
            <a:avLst/>
          </a:prstGeom>
          <a:solidFill>
            <a:srgbClr val="52B78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accent_pill"/>
          <p:cNvSpPr/>
          <p:nvPr/>
        </p:nvSpPr>
        <p:spPr>
          <a:xfrm>
            <a:off x="3200000" y="1050000"/>
            <a:ext cx="1600000" cy="26000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0">
            <a:noFill/>
          </a:ln>
        </p:spPr>
        <p:txBody>
          <a:bodyPr wrap="square" lIns="60960" tIns="30480" rIns="60960" bIns="30480" anchor="ctr" anchorCtr="1">
            <a:noAutofit/>
          </a:bodyPr>
          <a:lstStyle/>
          <a:p>
            <a:pPr algn="ctr">
              <a:buNone/>
            </a:pPr>
            <a:r>
              <a:rPr lang="fr-FR" sz="900" b="1" dirty="0">
                <a:solidFill>
                  <a:srgbClr val="1B4332"/>
                </a:solidFill>
                <a:latin typeface="Calibri"/>
              </a:rPr>
              <a:t>SRIS · 2026</a:t>
            </a:r>
          </a:p>
        </p:txBody>
      </p:sp>
      <p:sp>
        <p:nvSpPr>
          <p:cNvPr id="7" name="merci_title"/>
          <p:cNvSpPr/>
          <p:nvPr/>
        </p:nvSpPr>
        <p:spPr>
          <a:xfrm>
            <a:off x="457200" y="1300000"/>
            <a:ext cx="8686800" cy="1600000"/>
          </a:xfrm>
          <a:prstGeom prst="rect">
            <a:avLst/>
          </a:prstGeom>
          <a:noFill/>
        </p:spPr>
        <p:txBody>
          <a:bodyPr wrap="square" lIns="91425" tIns="45720" rIns="91425" bIns="4572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800" b="1" dirty="0">
                <a:solidFill>
                  <a:srgbClr val="FFFFFF"/>
                </a:solidFill>
                <a:latin typeface="Georgia"/>
              </a:rPr>
              <a:t>Merci !</a:t>
            </a:r>
          </a:p>
        </p:txBody>
      </p:sp>
      <p:sp>
        <p:nvSpPr>
          <p:cNvPr id="8" name="subtitle"/>
          <p:cNvSpPr/>
          <p:nvPr/>
        </p:nvSpPr>
        <p:spPr>
          <a:xfrm>
            <a:off x="457200" y="2920000"/>
            <a:ext cx="8686800" cy="500000"/>
          </a:xfrm>
          <a:prstGeom prst="rect">
            <a:avLst/>
          </a:prstGeom>
          <a:noFill/>
        </p:spPr>
        <p:txBody>
          <a:bodyPr wrap="square" lIns="91425" tIns="30480" rIns="91425" bIns="30480" anchor="ctr" anchorCtr="0">
            <a:noAutofit/>
          </a:bodyPr>
          <a:lstStyle/>
          <a:p>
            <a:pPr algn="ctr">
              <a:buNone/>
            </a:pPr>
            <a:r>
              <a:rPr lang="fr-FR" sz="2000" b="0" dirty="0">
                <a:solidFill>
                  <a:srgbClr val="95D5B2"/>
                </a:solidFill>
                <a:latin typeface="Calibri"/>
              </a:rPr>
              <a:t>Nous restons disponibles pour toute question.</a:t>
            </a:r>
          </a:p>
        </p:txBody>
      </p:sp>
      <p:sp>
        <p:nvSpPr>
          <p:cNvPr id="9" name="separator"/>
          <p:cNvSpPr/>
          <p:nvPr/>
        </p:nvSpPr>
        <p:spPr>
          <a:xfrm>
            <a:off x="3000000" y="3540000"/>
            <a:ext cx="3600000" cy="19050"/>
          </a:xfrm>
          <a:prstGeom prst="rect">
            <a:avLst/>
          </a:prstGeom>
          <a:solidFill>
            <a:srgbClr val="52B78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am_names"/>
          <p:cNvSpPr/>
          <p:nvPr/>
        </p:nvSpPr>
        <p:spPr>
          <a:xfrm>
            <a:off x="457200" y="3620000"/>
            <a:ext cx="8686800" cy="400000"/>
          </a:xfrm>
          <a:prstGeom prst="rect">
            <a:avLst/>
          </a:prstGeom>
          <a:noFill/>
        </p:spPr>
        <p:txBody>
          <a:bodyPr wrap="square" lIns="91425" tIns="30480" rIns="91425" bIns="30480" anchor="ctr" anchorCtr="0">
            <a:noAutofit/>
          </a:bodyPr>
          <a:lstStyle/>
          <a:p>
            <a:pPr algn="ctr"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Fatine Elbari  ·  Salma Karim</a:t>
            </a:r>
          </a:p>
        </p:txBody>
      </p:sp>
      <p:sp>
        <p:nvSpPr>
          <p:cNvPr id="11" name="encadrante"/>
          <p:cNvSpPr/>
          <p:nvPr/>
        </p:nvSpPr>
        <p:spPr>
          <a:xfrm>
            <a:off x="457200" y="4060000"/>
            <a:ext cx="8686800" cy="320000"/>
          </a:xfrm>
          <a:prstGeom prst="rect">
            <a:avLst/>
          </a:prstGeom>
          <a:noFill/>
        </p:spPr>
        <p:txBody>
          <a:bodyPr wrap="square" lIns="91425" tIns="30480" rIns="91425" bIns="30480" anchor="ctr" anchorCtr="0">
            <a:noAutofit/>
          </a:bodyPr>
          <a:lstStyle/>
          <a:p>
            <a:pPr algn="ctr">
              <a:buNone/>
            </a:pPr>
            <a:r>
              <a:rPr lang="fr-FR" sz="1100" b="0" i="1" dirty="0">
                <a:solidFill>
                  <a:srgbClr val="74C69D"/>
                </a:solidFill>
                <a:latin typeface="Calibri"/>
              </a:rPr>
              <a:t>Encadrante : Mme. Kassid Asmaa  ·  EMSI – 3IIR  ·  Casablanca, Maroc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On-screen Show (16:9)</PresentationFormat>
  <Paragraphs>106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Abdelaziz Chatit</cp:lastModifiedBy>
  <cp:revision>1</cp:revision>
  <dcterms:modified xsi:type="dcterms:W3CDTF">2026-05-12T10:52:22Z</dcterms:modified>
</cp:coreProperties>
</file>